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66a2d18e5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866a2d18e5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66a2d18e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866a2d18e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104c53c4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104c53c4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104c53c4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104c53c4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104c53c4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104c53c4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104c53c4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104c53c4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11d12d0e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11d12d0e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104c53c4c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104c53c4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104c53c4c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104c53c4c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11d12d0e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11d12d0e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11d12d0e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11d12d0e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104c53c4c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104c53c4c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104c53c4c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104c53c4c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104c53c4c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104c53c4c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87075" y="986050"/>
            <a:ext cx="6818100" cy="101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Fitbit Activity Analysis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87075" y="20036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how activity metrics reflect effort, calories, and behavior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287075" y="4270500"/>
            <a:ext cx="2781300" cy="455400"/>
          </a:xfrm>
          <a:prstGeom prst="roundRect">
            <a:avLst>
              <a:gd fmla="val 50000" name="adj"/>
            </a:avLst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331037" y="4270500"/>
            <a:ext cx="299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</a:t>
            </a:r>
            <a:r>
              <a:rPr lang="en" sz="1800">
                <a:solidFill>
                  <a:schemeClr val="dk1"/>
                </a:solidFill>
              </a:rPr>
              <a:t>y Vladyslav Yakymchuk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 &amp; Context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3585000" cy="34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Dataset: </a:t>
            </a:r>
            <a:r>
              <a:rPr lang="en" sz="1400">
                <a:solidFill>
                  <a:schemeClr val="dk1"/>
                </a:solidFill>
              </a:rPr>
              <a:t>Fitbit Fitness Tracker Data</a:t>
            </a:r>
            <a:br>
              <a:rPr lang="en" sz="1400">
                <a:solidFill>
                  <a:schemeClr val="dk1"/>
                </a:solidFill>
              </a:rPr>
            </a:br>
            <a:r>
              <a:rPr b="1" lang="en" sz="1400">
                <a:solidFill>
                  <a:schemeClr val="dk1"/>
                </a:solidFill>
              </a:rPr>
              <a:t>Source:</a:t>
            </a:r>
            <a:r>
              <a:rPr lang="en" sz="1400">
                <a:solidFill>
                  <a:schemeClr val="dk1"/>
                </a:solidFill>
              </a:rPr>
              <a:t> Kaggle (public dataset)</a:t>
            </a:r>
            <a:br>
              <a:rPr lang="en" sz="1400">
                <a:solidFill>
                  <a:schemeClr val="dk1"/>
                </a:solidFill>
              </a:rPr>
            </a:br>
            <a:r>
              <a:rPr b="1" lang="en" sz="1400">
                <a:solidFill>
                  <a:schemeClr val="dk1"/>
                </a:solidFill>
              </a:rPr>
              <a:t>License:</a:t>
            </a:r>
            <a:r>
              <a:rPr lang="en" sz="1400">
                <a:solidFill>
                  <a:schemeClr val="dk1"/>
                </a:solidFill>
              </a:rPr>
              <a:t> CC0 (Public Domain – free to use by anyone)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Dataset Overview</a:t>
            </a:r>
            <a:br>
              <a:rPr b="1"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This dataset contains anonymized data collected from Fitbit users, including daily activity levels, sleep patterns, and basic health-related metrics. The data reflects real-world usage of consumer fitness trackers.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4127550" y="1152475"/>
            <a:ext cx="4249200" cy="34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Data Scope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Time period: April – May 2016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Participants: 30 Fitbit users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Granularity: Daily-level records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Data Limitations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Small sample size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Data collected from consumer-grade devices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Users are not representative of the general population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Goals</a:t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311726" y="1145252"/>
            <a:ext cx="751200" cy="751200"/>
          </a:xfrm>
          <a:prstGeom prst="ellipse">
            <a:avLst/>
          </a:prstGeom>
          <a:solidFill>
            <a:srgbClr val="EFEFEF"/>
          </a:solidFill>
          <a:ln cap="flat" cmpd="sng" w="112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750" lIns="107750" spcFirstLastPara="1" rIns="107750" wrap="square" tIns="10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9"/>
          </a:p>
        </p:txBody>
      </p:sp>
      <p:pic>
        <p:nvPicPr>
          <p:cNvPr descr="preencoded.png" id="71" name="Google Shape;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812" y="1362358"/>
            <a:ext cx="316952" cy="31695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/>
          <p:nvPr/>
        </p:nvSpPr>
        <p:spPr>
          <a:xfrm>
            <a:off x="311726" y="2041063"/>
            <a:ext cx="751200" cy="751200"/>
          </a:xfrm>
          <a:prstGeom prst="ellipse">
            <a:avLst/>
          </a:prstGeom>
          <a:solidFill>
            <a:srgbClr val="EFEFEF"/>
          </a:solidFill>
          <a:ln cap="flat" cmpd="sng" w="112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750" lIns="107750" spcFirstLastPara="1" rIns="107750" wrap="square" tIns="10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9"/>
          </a:p>
        </p:txBody>
      </p:sp>
      <p:pic>
        <p:nvPicPr>
          <p:cNvPr descr="preencoded.png" id="73" name="Google Shape;7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895" y="2258213"/>
            <a:ext cx="316820" cy="31682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>
            <a:off x="311713" y="2929527"/>
            <a:ext cx="751200" cy="751200"/>
          </a:xfrm>
          <a:prstGeom prst="ellipse">
            <a:avLst/>
          </a:prstGeom>
          <a:solidFill>
            <a:srgbClr val="EFEFEF"/>
          </a:solidFill>
          <a:ln cap="flat" cmpd="sng" w="112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750" lIns="107750" spcFirstLastPara="1" rIns="107750" wrap="square" tIns="10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9"/>
          </a:p>
        </p:txBody>
      </p:sp>
      <p:pic>
        <p:nvPicPr>
          <p:cNvPr descr="preencoded.png" id="75" name="Google Shape;7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8869" y="3146707"/>
            <a:ext cx="316820" cy="31682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311726" y="3818018"/>
            <a:ext cx="751200" cy="751200"/>
          </a:xfrm>
          <a:prstGeom prst="ellipse">
            <a:avLst/>
          </a:prstGeom>
          <a:solidFill>
            <a:srgbClr val="EFEFEF"/>
          </a:solidFill>
          <a:ln cap="flat" cmpd="sng" w="112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750" lIns="107750" spcFirstLastPara="1" rIns="107750" wrap="square" tIns="107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9"/>
          </a:p>
        </p:txBody>
      </p:sp>
      <p:pic>
        <p:nvPicPr>
          <p:cNvPr descr="preencoded.png" id="77" name="Google Shape;7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8882" y="4035187"/>
            <a:ext cx="316820" cy="31682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1156825" y="2185758"/>
            <a:ext cx="752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Understand what drives calorie burn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1156825" y="3074223"/>
            <a:ext cx="74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Explore daily and weekly activity patterns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1156825" y="1289948"/>
            <a:ext cx="758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MET (Metabolic Equivalent of Task) measures energy use relative to rest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1156825" y="3962713"/>
            <a:ext cx="758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Examine the link between activity and sleep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MET?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MET (Metabolic Equivalent of Task) measures energy use relative to rest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1 MET = resting energy expenditure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Higher MET = higher physical effort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Used to standardize activity intensity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determines METs?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>
            <p:ph idx="2" type="body"/>
          </p:nvPr>
        </p:nvSpPr>
        <p:spPr>
          <a:xfrm>
            <a:off x="5177150" y="1152475"/>
            <a:ext cx="365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Key result: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MET vs Intensity: very strong relationship (R² ≈ 0.95)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MET vs Heart Rate: weaker relationship (R² ≈ 0.67)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Interpretation: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Intensity almost fully determines MET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Heart rate reflects effort less directly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5" name="Google Shape;95;p17" title="met vs activity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558800" cy="3416400"/>
          </a:xfrm>
          <a:prstGeom prst="roundRect">
            <a:avLst>
              <a:gd fmla="val 4133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Predicts Calories Burned?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8" title="calories vs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152475"/>
            <a:ext cx="8520600" cy="3569400"/>
          </a:xfrm>
          <a:prstGeom prst="roundRect">
            <a:avLst>
              <a:gd fmla="val 4572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Predicts Calories Burned?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Results: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METs vs Calories: near‑perfect relationship (R² ≈ 0.99)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Intensity vs Calories: very strong (R² ≈ 0.96)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Heart Rate vs Calories: noticeably weaker (R² ≈ 0.72)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Conclusion: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Calories are fundamentally driven by METs and Intensity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Heart rate adds context but is less stable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determines </a:t>
            </a:r>
            <a:r>
              <a:rPr lang="en"/>
              <a:t>Intensity</a:t>
            </a:r>
            <a:r>
              <a:rPr lang="en"/>
              <a:t>?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>
            <p:ph idx="2" type="body"/>
          </p:nvPr>
        </p:nvSpPr>
        <p:spPr>
          <a:xfrm>
            <a:off x="5177150" y="1152475"/>
            <a:ext cx="365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ntensity vs Heart Rate: moderate relationship (R² ≈ 0.63)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Intensity vs Steps per Minute: strong relationship (R² ≈ 0.83)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Insight: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Intensity depends more on movement than physiology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6" name="Google Shape;116;p20" title="intensi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1152475"/>
            <a:ext cx="4558800" cy="3416400"/>
          </a:xfrm>
          <a:prstGeom prst="roundRect">
            <a:avLst>
              <a:gd fmla="val 434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by Time of Day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1" title="Daily Inte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895" y="1152467"/>
            <a:ext cx="8522100" cy="3566100"/>
          </a:xfrm>
          <a:prstGeom prst="roundRect">
            <a:avLst>
              <a:gd fmla="val 3982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by Time of Day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Lowest activity at night (sleep period)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Gradual rise in the morning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Peak activity around 5–6 p.m.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Decline in the evening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Interpretation: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Activity follows daily routines rather than random behavior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by Day of Week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3" title="Moderate active minut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100700" cy="3416400"/>
          </a:xfrm>
          <a:prstGeom prst="roundRect">
            <a:avLst>
              <a:gd fmla="val 4133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37" name="Google Shape;137;p23" title="hight activity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1525" y="1152475"/>
            <a:ext cx="4100700" cy="3416400"/>
          </a:xfrm>
          <a:prstGeom prst="roundRect">
            <a:avLst>
              <a:gd fmla="val 4942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by Day of Week</a:t>
            </a:r>
            <a:endParaRPr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Activity levels are relatively stable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Slight increase on weekends (especially Saturday)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Lowest activity on Thursday and Friday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Insight: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Users maintain consistent baseline activity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Activity Affect Sleep?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5682825" y="1152475"/>
            <a:ext cx="314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Sleep vs Moderate Activity: no correlation (R² ≈ 0.00)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Sleep vs High Activity: very weak correlation (R² ≈ 0.02)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Conclusion: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Sleep duration is largely independent of prior‑day activity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50" name="Google Shape;150;p25" title="SleepHours vs Activity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5124600" cy="3416400"/>
          </a:xfrm>
          <a:prstGeom prst="roundRect">
            <a:avLst>
              <a:gd fmla="val 4133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in Bed by Day</a:t>
            </a:r>
            <a:endParaRPr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6"/>
          <p:cNvSpPr txBox="1"/>
          <p:nvPr>
            <p:ph idx="2" type="body"/>
          </p:nvPr>
        </p:nvSpPr>
        <p:spPr>
          <a:xfrm>
            <a:off x="5678424" y="1152475"/>
            <a:ext cx="314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Longest time in bed on Sundays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Slight mid‑week increase (Wednesday)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Interpretation: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Likely reflects recovery and accumulated fatigue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8" name="Google Shape;158;p26" title="weekday bedti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5124600" cy="3416400"/>
          </a:xfrm>
          <a:prstGeom prst="roundRect">
            <a:avLst>
              <a:gd fmla="val 4133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METs and Intensity are core drivers of energy expenditure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Heart Rate is informative but less reliable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Activity follows strong daily and weekly patterns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Sleep duration shows no strong linear link to activity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Overall conclusion: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Fitbit data models physical activity effectively, prioritizing observable movement over individual physiological variability.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